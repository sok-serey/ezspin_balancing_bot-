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320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78E7-B3D6-E2A1-E642-163CFD2DD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D6C1DB-4621-FC12-A1AE-12311C6F3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6DB7-9607-4420-AF83-A985D917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D953A-970A-AC2D-4DA7-5E32E8DE5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FAC6B-7F17-BE69-84F3-90034AFF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8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924A-DC05-97EC-89FB-E88C0EFBB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B6A01-9DEC-F4FB-BB92-CFEE78721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8A4E3-86B1-2621-B129-3582BEDC4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4A445-3977-F530-AB3E-A23517F5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BD486E-87A6-A6F8-B40C-960F8D3A9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765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72C9-1CAD-1A70-F647-486989FBA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43C773-5193-D503-EFCE-E91C56907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64B4-3E46-A379-4F88-DB6B5256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0CE42-21E9-1432-2F98-3A0C11FD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FC4E1-6880-6380-E30F-3315D332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02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9F497-A770-7699-F03E-8DE1C8AB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92A96-BBC9-AC7D-D519-00408F607B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DF426-5872-050A-F0DB-C759D2D07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7DAED-26D1-D1C7-C9BE-5917D244C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FAC56-F6A6-055B-F976-44463122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D1704-1DA0-EEE2-F28B-3079CCB2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3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F1E7-E954-143F-EC87-72B6A5B56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784D4-E058-A191-E333-261D1B9F4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965664-F899-C300-13A4-6CCE6B279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38EBFC-08A7-83C2-C606-1ED226AAA8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79AB09-C2D6-EA1C-F8E7-D2671E1D2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FC51F6-453C-5C2A-5A17-CA817D55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496C50-96AD-EAE5-A399-C841BBF5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9B7D6-2991-225B-D3E7-CF944B3E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4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2523A-6ED7-F38F-19C7-858C99095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0B255-DA4B-3338-8616-E3356096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DF9A3-44C6-8AA0-2B08-426AC3588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440DD-5A3D-5BEE-31E0-618A2F951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0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112FAA-8FE0-B8C0-70AD-A580B59B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8418A-2E37-7B76-8F29-C53A1908F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0F0ED-F3BE-807E-AE03-4C50F18E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6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4D939-E5E8-6F0B-BEFE-B9A0DCC71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87470-CB0F-0FC7-707C-7A8E2E0CF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239DC-9AEC-1F6B-67A0-B60F60E47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23A04-5AE6-478F-DB65-BB45DA1E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800D5-4CB5-6C71-1071-CAE19E71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D6911-8DB2-A5DD-5C5A-83C8D77C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878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A0D4-DE01-4774-8FA2-DA54836F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CDEA5-1438-7010-6666-656D2C78E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1DE966-944C-1486-2DD5-2AB1C4ABEE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18DBA-99AF-3E72-77DC-F717D997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4F3C6-B52E-651C-9B78-943716D6C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AE518-E3AD-3F34-8051-A69A74B0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91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1AD80-FA90-FE7C-C55C-68525F07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5684C5-839B-1821-6A42-39FB99F1F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07D2F-46D0-65A1-A6B0-80D996F9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6C514-36B2-775F-9BED-0408C6A6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44D13-540D-543C-A0F4-FD35F29B0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090712-111B-CE9C-11FB-08197406D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ED3CB-D302-3216-CFA8-15FEBA178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D08EE-4783-81B7-1E95-12A1F076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A7E6B-BE9C-17A2-BB39-7F8E5F01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775D8-D076-6AA3-6A5E-A338FCBA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237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A3EAD-CF68-EA32-F915-22B5FD6E2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319F2-8831-C296-570D-ED39FD2BB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92586-6AB2-6303-3953-24181EC11F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2CAC16-A144-41D7-8B01-FC21FC58B14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78565-AD6A-A11B-6A7E-B920B293C3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A0629-0A9F-CBA7-F607-E201C0BDC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14240-2AC6-4EBE-B80B-ED64242024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781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roup 168">
            <a:extLst>
              <a:ext uri="{FF2B5EF4-FFF2-40B4-BE49-F238E27FC236}">
                <a16:creationId xmlns:a16="http://schemas.microsoft.com/office/drawing/2014/main" id="{54DFD1D8-9525-F85B-3216-DF1BC79221AC}"/>
              </a:ext>
            </a:extLst>
          </p:cNvPr>
          <p:cNvGrpSpPr/>
          <p:nvPr/>
        </p:nvGrpSpPr>
        <p:grpSpPr>
          <a:xfrm>
            <a:off x="748501" y="1543436"/>
            <a:ext cx="6239730" cy="2870554"/>
            <a:chOff x="2593645" y="1835426"/>
            <a:chExt cx="6239730" cy="2870554"/>
          </a:xfrm>
        </p:grpSpPr>
        <p:pic>
          <p:nvPicPr>
            <p:cNvPr id="37" name="Picture 36" descr="Cartoon style iPOWER MOTOR GM4108">
              <a:extLst>
                <a:ext uri="{FF2B5EF4-FFF2-40B4-BE49-F238E27FC236}">
                  <a16:creationId xmlns:a16="http://schemas.microsoft.com/office/drawing/2014/main" id="{0B159502-3A79-4CCB-71DE-05E4722DE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193" t="22118" r="17573" b="22433"/>
            <a:stretch>
              <a:fillRect/>
            </a:stretch>
          </p:blipFill>
          <p:spPr>
            <a:xfrm>
              <a:off x="7449806" y="2772385"/>
              <a:ext cx="1383569" cy="1033440"/>
            </a:xfrm>
            <a:prstGeom prst="rect">
              <a:avLst/>
            </a:prstGeom>
          </p:spPr>
        </p:pic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E9492C92-A4EF-9D8B-A0E1-0684FA9425B7}"/>
                </a:ext>
              </a:extLst>
            </p:cNvPr>
            <p:cNvGrpSpPr/>
            <p:nvPr/>
          </p:nvGrpSpPr>
          <p:grpSpPr>
            <a:xfrm>
              <a:off x="2593645" y="1835426"/>
              <a:ext cx="5679072" cy="2870554"/>
              <a:chOff x="2593645" y="1835426"/>
              <a:chExt cx="5679072" cy="2870554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2D91E8E8-9D63-52E2-ED79-3F4EE043CE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145" t="18551" r="8840" b="22512"/>
              <a:stretch>
                <a:fillRect/>
              </a:stretch>
            </p:blipFill>
            <p:spPr>
              <a:xfrm>
                <a:off x="4412972" y="1835426"/>
                <a:ext cx="2630557" cy="2870554"/>
              </a:xfrm>
              <a:prstGeom prst="rect">
                <a:avLst/>
              </a:prstGeom>
            </p:spPr>
          </p:pic>
          <p:pic>
            <p:nvPicPr>
              <p:cNvPr id="20" name="Picture 19" descr="Cartoon style iPOWER MOTOR GM4108">
                <a:extLst>
                  <a:ext uri="{FF2B5EF4-FFF2-40B4-BE49-F238E27FC236}">
                    <a16:creationId xmlns:a16="http://schemas.microsoft.com/office/drawing/2014/main" id="{C0EB7233-D506-2F45-D412-A18B27DB9F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8193" t="22118" r="17573" b="22433"/>
              <a:stretch>
                <a:fillRect/>
              </a:stretch>
            </p:blipFill>
            <p:spPr>
              <a:xfrm>
                <a:off x="2593645" y="2776099"/>
                <a:ext cx="1383569" cy="1033440"/>
              </a:xfrm>
              <a:prstGeom prst="rect">
                <a:avLst/>
              </a:prstGeom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2282577-056C-BA15-B367-BF5C46D931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2394" y="3836305"/>
                <a:ext cx="1109640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A4EB0FC-290C-3EB8-9817-67F6FEE42A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5429" y="4002554"/>
                <a:ext cx="1246605" cy="0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5B02C56-706B-9E6F-2BE6-A2305C7A92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54680" y="4206111"/>
                <a:ext cx="1361221" cy="0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C73A3ABC-C3A6-E082-5302-E9294DF4A2E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58490" y="3749985"/>
                <a:ext cx="0" cy="476575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83055C56-903C-596B-D56B-47063572E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23" y="3265612"/>
                <a:ext cx="5464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9C1BB0A6-8584-47CF-68A6-07BD8EC10B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23" y="3139440"/>
                <a:ext cx="546417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982CA4AB-3F5A-EA22-3DDC-4AC8A8919D04}"/>
                  </a:ext>
                </a:extLst>
              </p:cNvPr>
              <p:cNvSpPr/>
              <p:nvPr/>
            </p:nvSpPr>
            <p:spPr>
              <a:xfrm>
                <a:off x="4864219" y="3130468"/>
                <a:ext cx="160337" cy="54336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9A92E5F6-CA1A-7AA1-1E84-09E9F5654912}"/>
                  </a:ext>
                </a:extLst>
              </p:cNvPr>
              <p:cNvSpPr/>
              <p:nvPr/>
            </p:nvSpPr>
            <p:spPr>
              <a:xfrm>
                <a:off x="6411070" y="3130467"/>
                <a:ext cx="160337" cy="543361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8C192A9E-D206-63AC-BA7F-952F1BC3B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23" y="3372659"/>
                <a:ext cx="546417" cy="0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B77308B7-7699-861D-2E34-56D831C73E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23" y="3482898"/>
                <a:ext cx="546417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50A36005-D491-56E4-CFF7-BAA800FB5E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39223" y="3604154"/>
                <a:ext cx="546417" cy="0"/>
              </a:xfrm>
              <a:prstGeom prst="line">
                <a:avLst/>
              </a:prstGeom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D762EFA0-97F8-F52A-C100-4787FFDF6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3" y="3604154"/>
                <a:ext cx="546417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84AB28BB-1527-44B6-9C4F-612C57C41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2" y="3263630"/>
                <a:ext cx="5464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49BDA43A-7DC8-70ED-628F-94E3AB1E45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2" y="3137458"/>
                <a:ext cx="546417" cy="0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3F54053-409D-5C7A-24FA-D22540D446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2" y="3370677"/>
                <a:ext cx="546417" cy="0"/>
              </a:xfrm>
              <a:prstGeom prst="line">
                <a:avLst/>
              </a:prstGeom>
              <a:ln w="12700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D2C8F27D-4F1F-C091-361C-3BC7A20A86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2" y="3480916"/>
                <a:ext cx="546417" cy="0"/>
              </a:xfrm>
              <a:prstGeom prst="line">
                <a:avLst/>
              </a:prstGeom>
              <a:ln w="12700"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636A394E-DE93-F340-5AA8-7CBE16B12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46582" y="3602172"/>
                <a:ext cx="546417" cy="0"/>
              </a:xfrm>
              <a:prstGeom prst="line">
                <a:avLst/>
              </a:prstGeom>
              <a:ln w="12700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E16638B5-0791-EA67-4549-0CB1D445D35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5429" y="3748080"/>
                <a:ext cx="1" cy="275240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54AE7E9-4D4B-8D09-5970-B5C1C8DB82F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22394" y="3748080"/>
                <a:ext cx="0" cy="10764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1511A2FF-2645-01E3-46F2-C900A5847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5146" y="3836305"/>
                <a:ext cx="1109640" cy="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5A5DDC80-43E1-9B8C-D884-AD7F841A5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91200" y="4002554"/>
                <a:ext cx="1246605" cy="0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9F15F93C-CB98-9666-F3C5-84442EECF2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05146" y="4195046"/>
                <a:ext cx="1361221" cy="0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35D31D8C-D88F-7C20-4D39-41E2D15C91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20880" y="3747715"/>
                <a:ext cx="0" cy="107640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E1B34ADE-6335-B5B9-8E67-D4F73E3BD3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37805" y="3748080"/>
                <a:ext cx="1" cy="275240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>
                <a:extLst>
                  <a:ext uri="{FF2B5EF4-FFF2-40B4-BE49-F238E27FC236}">
                    <a16:creationId xmlns:a16="http://schemas.microsoft.com/office/drawing/2014/main" id="{97E327B6-3211-8C4A-0208-A1EE0D6029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72717" y="3737156"/>
                <a:ext cx="0" cy="476575"/>
              </a:xfrm>
              <a:prstGeom prst="line">
                <a:avLst/>
              </a:prstGeom>
              <a:ln w="381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F57A9D4C-3127-4EE3-6380-3E158CBD99B4}"/>
                  </a:ext>
                </a:extLst>
              </p:cNvPr>
              <p:cNvSpPr txBox="1"/>
              <p:nvPr/>
            </p:nvSpPr>
            <p:spPr>
              <a:xfrm>
                <a:off x="4117071" y="2979168"/>
                <a:ext cx="2664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5V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C98C1D5D-8EC6-D323-46DD-C4596C599D7C}"/>
                  </a:ext>
                </a:extLst>
              </p:cNvPr>
              <p:cNvSpPr txBox="1"/>
              <p:nvPr/>
            </p:nvSpPr>
            <p:spPr>
              <a:xfrm>
                <a:off x="4079226" y="3121529"/>
                <a:ext cx="333746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GND</a:t>
                </a: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2C3538A-732B-0D98-5E66-43B8BB427226}"/>
                  </a:ext>
                </a:extLst>
              </p:cNvPr>
              <p:cNvSpPr txBox="1"/>
              <p:nvPr/>
            </p:nvSpPr>
            <p:spPr>
              <a:xfrm>
                <a:off x="4114010" y="3236722"/>
                <a:ext cx="26161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CS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83552EEE-2A52-95C9-95F0-257F21ADE4AB}"/>
                  </a:ext>
                </a:extLst>
              </p:cNvPr>
              <p:cNvSpPr txBox="1"/>
              <p:nvPr/>
            </p:nvSpPr>
            <p:spPr>
              <a:xfrm>
                <a:off x="4124912" y="3352797"/>
                <a:ext cx="24237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SI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D278D620-AD85-55DB-EBF2-D3BDDDD06BB4}"/>
                  </a:ext>
                </a:extLst>
              </p:cNvPr>
              <p:cNvSpPr txBox="1"/>
              <p:nvPr/>
            </p:nvSpPr>
            <p:spPr>
              <a:xfrm>
                <a:off x="4110659" y="3467911"/>
                <a:ext cx="27283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SO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0D90ED00-67A7-0460-9A33-7DF2792E3014}"/>
                  </a:ext>
                </a:extLst>
              </p:cNvPr>
              <p:cNvSpPr txBox="1"/>
              <p:nvPr/>
            </p:nvSpPr>
            <p:spPr>
              <a:xfrm>
                <a:off x="7079794" y="2979168"/>
                <a:ext cx="26642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5V</a:t>
                </a:r>
              </a:p>
            </p:txBody>
          </p: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2C34A2D5-D814-8E57-F2A8-295361B6CC78}"/>
                  </a:ext>
                </a:extLst>
              </p:cNvPr>
              <p:cNvSpPr txBox="1"/>
              <p:nvPr/>
            </p:nvSpPr>
            <p:spPr>
              <a:xfrm>
                <a:off x="7041949" y="3121529"/>
                <a:ext cx="333746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GND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E08F9495-3A8B-9AFB-8CAA-C9D41E085BC0}"/>
                  </a:ext>
                </a:extLst>
              </p:cNvPr>
              <p:cNvSpPr txBox="1"/>
              <p:nvPr/>
            </p:nvSpPr>
            <p:spPr>
              <a:xfrm>
                <a:off x="7076733" y="3236722"/>
                <a:ext cx="26161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CS</a:t>
                </a:r>
              </a:p>
            </p:txBody>
          </p: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7439CED2-7AE0-6875-E109-8223B98720C6}"/>
                  </a:ext>
                </a:extLst>
              </p:cNvPr>
              <p:cNvSpPr txBox="1"/>
              <p:nvPr/>
            </p:nvSpPr>
            <p:spPr>
              <a:xfrm>
                <a:off x="7087635" y="3352797"/>
                <a:ext cx="242374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SI</a:t>
                </a:r>
              </a:p>
            </p:txBody>
          </p: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2CA25BD8-A05A-99ED-D092-EA4736B91F0A}"/>
                  </a:ext>
                </a:extLst>
              </p:cNvPr>
              <p:cNvSpPr txBox="1"/>
              <p:nvPr/>
            </p:nvSpPr>
            <p:spPr>
              <a:xfrm>
                <a:off x="7073382" y="3467911"/>
                <a:ext cx="272832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SO</a:t>
                </a:r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ECF96C4D-C0DC-51CC-D1BE-1D61001A9F8B}"/>
                  </a:ext>
                </a:extLst>
              </p:cNvPr>
              <p:cNvSpPr txBox="1"/>
              <p:nvPr/>
            </p:nvSpPr>
            <p:spPr>
              <a:xfrm>
                <a:off x="4110659" y="4039328"/>
                <a:ext cx="25519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W</a:t>
                </a:r>
              </a:p>
            </p:txBody>
          </p: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13E6CF54-D78E-72FD-3F6A-AA716C0E968D}"/>
                  </a:ext>
                </a:extLst>
              </p:cNvPr>
              <p:cNvSpPr txBox="1"/>
              <p:nvPr/>
            </p:nvSpPr>
            <p:spPr>
              <a:xfrm>
                <a:off x="4127661" y="3843417"/>
                <a:ext cx="22955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V</a:t>
                </a:r>
              </a:p>
            </p:txBody>
          </p:sp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39C9F0E9-46A5-D26C-883E-4D6E6BCCB1C8}"/>
                  </a:ext>
                </a:extLst>
              </p:cNvPr>
              <p:cNvSpPr txBox="1"/>
              <p:nvPr/>
            </p:nvSpPr>
            <p:spPr>
              <a:xfrm>
                <a:off x="4123412" y="3687616"/>
                <a:ext cx="23436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U</a:t>
                </a:r>
              </a:p>
            </p:txBody>
          </p: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1B26410-62B4-3CC9-74A6-740AF35C8438}"/>
                  </a:ext>
                </a:extLst>
              </p:cNvPr>
              <p:cNvSpPr txBox="1"/>
              <p:nvPr/>
            </p:nvSpPr>
            <p:spPr>
              <a:xfrm>
                <a:off x="7083145" y="4029065"/>
                <a:ext cx="255198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W</a:t>
                </a:r>
              </a:p>
            </p:txBody>
          </p: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71B4A47-E77A-AA32-A5F5-86CEF63191CE}"/>
                  </a:ext>
                </a:extLst>
              </p:cNvPr>
              <p:cNvSpPr txBox="1"/>
              <p:nvPr/>
            </p:nvSpPr>
            <p:spPr>
              <a:xfrm>
                <a:off x="7100147" y="3833154"/>
                <a:ext cx="22955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V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CB61768B-ECA8-86F9-F83B-2C9A054D0A33}"/>
                  </a:ext>
                </a:extLst>
              </p:cNvPr>
              <p:cNvSpPr txBox="1"/>
              <p:nvPr/>
            </p:nvSpPr>
            <p:spPr>
              <a:xfrm>
                <a:off x="7095898" y="3677353"/>
                <a:ext cx="234360" cy="184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00" b="1" dirty="0"/>
                  <a:t>U</a:t>
                </a:r>
              </a:p>
            </p:txBody>
          </p:sp>
        </p:grpSp>
      </p:grpSp>
      <p:pic>
        <p:nvPicPr>
          <p:cNvPr id="167" name="Picture 166">
            <a:extLst>
              <a:ext uri="{FF2B5EF4-FFF2-40B4-BE49-F238E27FC236}">
                <a16:creationId xmlns:a16="http://schemas.microsoft.com/office/drawing/2014/main" id="{DA85037A-8A67-DB7A-408F-DE9FD66671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31757">
            <a:off x="685641" y="4434430"/>
            <a:ext cx="2943300" cy="1828654"/>
          </a:xfrm>
          <a:prstGeom prst="rect">
            <a:avLst/>
          </a:prstGeom>
        </p:spPr>
      </p:pic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A5D07A29-57C4-286C-387E-61DEBD4B0C9E}"/>
              </a:ext>
            </a:extLst>
          </p:cNvPr>
          <p:cNvCxnSpPr>
            <a:cxnSpLocks/>
          </p:cNvCxnSpPr>
          <p:nvPr/>
        </p:nvCxnSpPr>
        <p:spPr>
          <a:xfrm flipV="1">
            <a:off x="3785068" y="4044784"/>
            <a:ext cx="0" cy="18705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C31DC4F2-C9BF-D4E4-FB50-1C2098E63EC0}"/>
              </a:ext>
            </a:extLst>
          </p:cNvPr>
          <p:cNvCxnSpPr>
            <a:cxnSpLocks/>
          </p:cNvCxnSpPr>
          <p:nvPr/>
        </p:nvCxnSpPr>
        <p:spPr>
          <a:xfrm flipV="1">
            <a:off x="3926866" y="4044784"/>
            <a:ext cx="0" cy="200174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2D75DEF4-7A0A-7567-9341-83B02BA36777}"/>
              </a:ext>
            </a:extLst>
          </p:cNvPr>
          <p:cNvCxnSpPr>
            <a:cxnSpLocks/>
          </p:cNvCxnSpPr>
          <p:nvPr/>
        </p:nvCxnSpPr>
        <p:spPr>
          <a:xfrm flipH="1">
            <a:off x="2655736" y="5905169"/>
            <a:ext cx="114835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354F4227-6AF5-0C24-8577-B829BA8DE41F}"/>
              </a:ext>
            </a:extLst>
          </p:cNvPr>
          <p:cNvCxnSpPr>
            <a:cxnSpLocks/>
          </p:cNvCxnSpPr>
          <p:nvPr/>
        </p:nvCxnSpPr>
        <p:spPr>
          <a:xfrm flipH="1">
            <a:off x="2614746" y="6027972"/>
            <a:ext cx="13273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Speech Bubble: Rectangle with Corners Rounded 199">
            <a:extLst>
              <a:ext uri="{FF2B5EF4-FFF2-40B4-BE49-F238E27FC236}">
                <a16:creationId xmlns:a16="http://schemas.microsoft.com/office/drawing/2014/main" id="{0836B91F-BF28-9BB3-8779-8344CB48E12C}"/>
              </a:ext>
            </a:extLst>
          </p:cNvPr>
          <p:cNvSpPr/>
          <p:nvPr/>
        </p:nvSpPr>
        <p:spPr>
          <a:xfrm>
            <a:off x="2461886" y="1004348"/>
            <a:ext cx="1263503" cy="372840"/>
          </a:xfrm>
          <a:prstGeom prst="wedgeRoundRectCallout">
            <a:avLst>
              <a:gd name="adj1" fmla="val 31912"/>
              <a:gd name="adj2" fmla="val 175525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EZSPIN Driver (Custom BLDC driver) </a:t>
            </a:r>
          </a:p>
        </p:txBody>
      </p:sp>
      <p:sp>
        <p:nvSpPr>
          <p:cNvPr id="201" name="Speech Bubble: Rectangle with Corners Rounded 200">
            <a:extLst>
              <a:ext uri="{FF2B5EF4-FFF2-40B4-BE49-F238E27FC236}">
                <a16:creationId xmlns:a16="http://schemas.microsoft.com/office/drawing/2014/main" id="{C5FDB46E-CB9D-F187-D6C3-44EF651785C2}"/>
              </a:ext>
            </a:extLst>
          </p:cNvPr>
          <p:cNvSpPr/>
          <p:nvPr/>
        </p:nvSpPr>
        <p:spPr>
          <a:xfrm>
            <a:off x="4517028" y="4746731"/>
            <a:ext cx="1058056" cy="443075"/>
          </a:xfrm>
          <a:prstGeom prst="wedgeRoundRectCallout">
            <a:avLst>
              <a:gd name="adj1" fmla="val -109908"/>
              <a:gd name="adj2" fmla="val -461549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IMU Sensor On Board</a:t>
            </a:r>
          </a:p>
        </p:txBody>
      </p:sp>
      <p:sp>
        <p:nvSpPr>
          <p:cNvPr id="202" name="Speech Bubble: Rectangle with Corners Rounded 201">
            <a:extLst>
              <a:ext uri="{FF2B5EF4-FFF2-40B4-BE49-F238E27FC236}">
                <a16:creationId xmlns:a16="http://schemas.microsoft.com/office/drawing/2014/main" id="{8B4120EA-DC2C-EC60-A4A4-15C5B4C2276C}"/>
              </a:ext>
            </a:extLst>
          </p:cNvPr>
          <p:cNvSpPr/>
          <p:nvPr/>
        </p:nvSpPr>
        <p:spPr>
          <a:xfrm>
            <a:off x="1078317" y="4214413"/>
            <a:ext cx="1383569" cy="384230"/>
          </a:xfrm>
          <a:prstGeom prst="wedgeRoundRectCallout">
            <a:avLst>
              <a:gd name="adj1" fmla="val 27827"/>
              <a:gd name="adj2" fmla="val 126174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Lithium-ion Battery 3S</a:t>
            </a:r>
            <a:br>
              <a:rPr lang="en-US" sz="900" b="1" i="1" dirty="0"/>
            </a:br>
            <a:r>
              <a:rPr lang="en-US" sz="900" b="1" i="1" dirty="0"/>
              <a:t>(DIY Battery)</a:t>
            </a:r>
          </a:p>
        </p:txBody>
      </p:sp>
      <p:sp>
        <p:nvSpPr>
          <p:cNvPr id="203" name="Speech Bubble: Rectangle with Corners Rounded 202">
            <a:extLst>
              <a:ext uri="{FF2B5EF4-FFF2-40B4-BE49-F238E27FC236}">
                <a16:creationId xmlns:a16="http://schemas.microsoft.com/office/drawing/2014/main" id="{C5BE361F-8D38-4882-3F14-C6A2EC7E46D2}"/>
              </a:ext>
            </a:extLst>
          </p:cNvPr>
          <p:cNvSpPr/>
          <p:nvPr/>
        </p:nvSpPr>
        <p:spPr>
          <a:xfrm>
            <a:off x="477078" y="1630017"/>
            <a:ext cx="1480221" cy="367149"/>
          </a:xfrm>
          <a:prstGeom prst="wedgeRoundRectCallout">
            <a:avLst>
              <a:gd name="adj1" fmla="val 12563"/>
              <a:gd name="adj2" fmla="val 200923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GM4108 Gimbal Motor with Magnetic Encoder </a:t>
            </a:r>
          </a:p>
        </p:txBody>
      </p:sp>
      <p:pic>
        <p:nvPicPr>
          <p:cNvPr id="206" name="Picture 205" descr="Cartoon style NVIDIA Jetson Nano board">
            <a:extLst>
              <a:ext uri="{FF2B5EF4-FFF2-40B4-BE49-F238E27FC236}">
                <a16:creationId xmlns:a16="http://schemas.microsoft.com/office/drawing/2014/main" id="{14EA8F4D-D6B9-6363-1E9D-093D609F95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413" t="6869" r="16708" b="15668"/>
          <a:stretch>
            <a:fillRect/>
          </a:stretch>
        </p:blipFill>
        <p:spPr>
          <a:xfrm>
            <a:off x="8965754" y="4207474"/>
            <a:ext cx="2126502" cy="1666960"/>
          </a:xfrm>
          <a:prstGeom prst="rect">
            <a:avLst/>
          </a:prstGeom>
        </p:spPr>
      </p:pic>
      <p:pic>
        <p:nvPicPr>
          <p:cNvPr id="208" name="Picture 207" descr="Cartoon style Rockchip RK3399 development board">
            <a:extLst>
              <a:ext uri="{FF2B5EF4-FFF2-40B4-BE49-F238E27FC236}">
                <a16:creationId xmlns:a16="http://schemas.microsoft.com/office/drawing/2014/main" id="{FBF5EA3B-AA45-7A48-FF20-36D7ED8DC9A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98" b="13212"/>
          <a:stretch>
            <a:fillRect/>
          </a:stretch>
        </p:blipFill>
        <p:spPr>
          <a:xfrm>
            <a:off x="8817057" y="2203585"/>
            <a:ext cx="2126502" cy="1666959"/>
          </a:xfrm>
          <a:prstGeom prst="rect">
            <a:avLst/>
          </a:prstGeom>
        </p:spPr>
      </p:pic>
      <p:sp>
        <p:nvSpPr>
          <p:cNvPr id="210" name="TextBox 209">
            <a:extLst>
              <a:ext uri="{FF2B5EF4-FFF2-40B4-BE49-F238E27FC236}">
                <a16:creationId xmlns:a16="http://schemas.microsoft.com/office/drawing/2014/main" id="{1BCB387F-5E50-8940-529A-16CB3698B58F}"/>
              </a:ext>
            </a:extLst>
          </p:cNvPr>
          <p:cNvSpPr txBox="1"/>
          <p:nvPr/>
        </p:nvSpPr>
        <p:spPr>
          <a:xfrm>
            <a:off x="9399807" y="2005281"/>
            <a:ext cx="1848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Raspberry Pi 5 </a:t>
            </a:r>
            <a:endParaRPr lang="en-US" sz="1200" dirty="0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8CD1A75A-3646-F10F-BCB9-F3AE9F2EBB64}"/>
              </a:ext>
            </a:extLst>
          </p:cNvPr>
          <p:cNvSpPr txBox="1"/>
          <p:nvPr/>
        </p:nvSpPr>
        <p:spPr>
          <a:xfrm>
            <a:off x="9540935" y="3860294"/>
            <a:ext cx="1848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Orange pi 5B</a:t>
            </a:r>
            <a:endParaRPr lang="en-US" sz="1200" dirty="0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8551C9CA-D34D-C3D3-CBE4-757102349D20}"/>
              </a:ext>
            </a:extLst>
          </p:cNvPr>
          <p:cNvCxnSpPr>
            <a:cxnSpLocks/>
          </p:cNvCxnSpPr>
          <p:nvPr/>
        </p:nvCxnSpPr>
        <p:spPr>
          <a:xfrm>
            <a:off x="5101438" y="2169295"/>
            <a:ext cx="222038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3AEBBAC0-F8B9-D9CA-F0D3-2412EDB48181}"/>
              </a:ext>
            </a:extLst>
          </p:cNvPr>
          <p:cNvCxnSpPr>
            <a:cxnSpLocks/>
          </p:cNvCxnSpPr>
          <p:nvPr/>
        </p:nvCxnSpPr>
        <p:spPr>
          <a:xfrm>
            <a:off x="5101438" y="2304381"/>
            <a:ext cx="22203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6" name="TextBox 215">
            <a:extLst>
              <a:ext uri="{FF2B5EF4-FFF2-40B4-BE49-F238E27FC236}">
                <a16:creationId xmlns:a16="http://schemas.microsoft.com/office/drawing/2014/main" id="{DAA350B2-D680-610C-7A61-7A6767F3CC80}"/>
              </a:ext>
            </a:extLst>
          </p:cNvPr>
          <p:cNvSpPr txBox="1"/>
          <p:nvPr/>
        </p:nvSpPr>
        <p:spPr>
          <a:xfrm>
            <a:off x="5304327" y="1942575"/>
            <a:ext cx="522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CAN H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01550F36-42B4-0975-5E75-F37A468811C2}"/>
              </a:ext>
            </a:extLst>
          </p:cNvPr>
          <p:cNvSpPr txBox="1"/>
          <p:nvPr/>
        </p:nvSpPr>
        <p:spPr>
          <a:xfrm>
            <a:off x="5311662" y="2123152"/>
            <a:ext cx="4972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CAN L</a:t>
            </a:r>
          </a:p>
        </p:txBody>
      </p:sp>
      <p:pic>
        <p:nvPicPr>
          <p:cNvPr id="218" name="Picture 217" descr="Cartoon style Raspberry Pi 5 board">
            <a:extLst>
              <a:ext uri="{FF2B5EF4-FFF2-40B4-BE49-F238E27FC236}">
                <a16:creationId xmlns:a16="http://schemas.microsoft.com/office/drawing/2014/main" id="{D8E152E4-B426-B5C2-1D77-7064F1FB06F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1236"/>
          <a:stretch>
            <a:fillRect/>
          </a:stretch>
        </p:blipFill>
        <p:spPr>
          <a:xfrm>
            <a:off x="8266100" y="177897"/>
            <a:ext cx="3287216" cy="1945256"/>
          </a:xfrm>
          <a:prstGeom prst="rect">
            <a:avLst/>
          </a:prstGeom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C121BC80-D967-3294-2D62-E78296096B8D}"/>
              </a:ext>
            </a:extLst>
          </p:cNvPr>
          <p:cNvSpPr txBox="1"/>
          <p:nvPr/>
        </p:nvSpPr>
        <p:spPr>
          <a:xfrm>
            <a:off x="9399807" y="5915516"/>
            <a:ext cx="18486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Jetson Orin Nano</a:t>
            </a:r>
            <a:endParaRPr lang="en-US" sz="1200" dirty="0"/>
          </a:p>
        </p:txBody>
      </p:sp>
      <p:pic>
        <p:nvPicPr>
          <p:cNvPr id="222" name="Picture 221" descr="Cartoon style USB-CAN-A adapter">
            <a:extLst>
              <a:ext uri="{FF2B5EF4-FFF2-40B4-BE49-F238E27FC236}">
                <a16:creationId xmlns:a16="http://schemas.microsoft.com/office/drawing/2014/main" id="{CC1FB8D2-63B3-FA51-A2FF-1BF8BA3D02E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959" t="33776" r="16307" b="34413"/>
          <a:stretch>
            <a:fillRect/>
          </a:stretch>
        </p:blipFill>
        <p:spPr>
          <a:xfrm flipH="1">
            <a:off x="7012502" y="2005281"/>
            <a:ext cx="1495033" cy="475112"/>
          </a:xfrm>
          <a:prstGeom prst="rect">
            <a:avLst/>
          </a:prstGeom>
        </p:spPr>
      </p:pic>
      <p:sp>
        <p:nvSpPr>
          <p:cNvPr id="223" name="Rectangle 222">
            <a:extLst>
              <a:ext uri="{FF2B5EF4-FFF2-40B4-BE49-F238E27FC236}">
                <a16:creationId xmlns:a16="http://schemas.microsoft.com/office/drawing/2014/main" id="{DB16002C-9F9F-B0D3-0E35-A8E42B068A24}"/>
              </a:ext>
            </a:extLst>
          </p:cNvPr>
          <p:cNvSpPr/>
          <p:nvPr/>
        </p:nvSpPr>
        <p:spPr>
          <a:xfrm>
            <a:off x="8482816" y="304800"/>
            <a:ext cx="2783797" cy="598998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" name="Speech Bubble: Rectangle with Corners Rounded 225">
            <a:extLst>
              <a:ext uri="{FF2B5EF4-FFF2-40B4-BE49-F238E27FC236}">
                <a16:creationId xmlns:a16="http://schemas.microsoft.com/office/drawing/2014/main" id="{0F7BC8F7-D9E0-6323-F104-477E3583CCE0}"/>
              </a:ext>
            </a:extLst>
          </p:cNvPr>
          <p:cNvSpPr/>
          <p:nvPr/>
        </p:nvSpPr>
        <p:spPr>
          <a:xfrm>
            <a:off x="5367130" y="1098901"/>
            <a:ext cx="1517374" cy="450427"/>
          </a:xfrm>
          <a:prstGeom prst="wedgeRoundRectCallout">
            <a:avLst>
              <a:gd name="adj1" fmla="val 18497"/>
              <a:gd name="adj2" fmla="val 183392"/>
              <a:gd name="adj3" fmla="val 16667"/>
            </a:avLst>
          </a:prstGeom>
          <a:ln>
            <a:solidFill>
              <a:srgbClr val="00206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/>
              <a:t>Communicate with Embedded devices via </a:t>
            </a:r>
          </a:p>
          <a:p>
            <a:pPr algn="ctr"/>
            <a:r>
              <a:rPr lang="en-US" sz="900" b="1" i="1" dirty="0"/>
              <a:t>CAN Protocol</a:t>
            </a:r>
          </a:p>
        </p:txBody>
      </p:sp>
    </p:spTree>
    <p:extLst>
      <p:ext uri="{BB962C8B-B14F-4D97-AF65-F5344CB8AC3E}">
        <p14:creationId xmlns:p14="http://schemas.microsoft.com/office/powerpoint/2010/main" val="409617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elf-balancing robot">
            <a:extLst>
              <a:ext uri="{FF2B5EF4-FFF2-40B4-BE49-F238E27FC236}">
                <a16:creationId xmlns:a16="http://schemas.microsoft.com/office/drawing/2014/main" id="{B6217972-2DC7-BA05-966D-2D7C7B871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8038" y="1332613"/>
            <a:ext cx="2466461" cy="3699693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7A1623FD-F755-8233-7078-528CACDDA77D}"/>
              </a:ext>
            </a:extLst>
          </p:cNvPr>
          <p:cNvGrpSpPr/>
          <p:nvPr/>
        </p:nvGrpSpPr>
        <p:grpSpPr>
          <a:xfrm>
            <a:off x="3052770" y="1718672"/>
            <a:ext cx="7921720" cy="2960008"/>
            <a:chOff x="436055" y="1834607"/>
            <a:chExt cx="10841545" cy="292268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4E31FCD-F02E-40D5-D2EE-AF057E9C6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5484" y="3482009"/>
              <a:ext cx="1063137" cy="6624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FB91F4C-3DEF-2C99-4AC1-A44A4895D3F9}"/>
                </a:ext>
              </a:extLst>
            </p:cNvPr>
            <p:cNvGrpSpPr/>
            <p:nvPr/>
          </p:nvGrpSpPr>
          <p:grpSpPr>
            <a:xfrm>
              <a:off x="1560392" y="3266661"/>
              <a:ext cx="541935" cy="532535"/>
              <a:chOff x="1233859" y="3266661"/>
              <a:chExt cx="541935" cy="532535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C8E0B6E-EE03-826F-1AE4-194A2CB809AA}"/>
                  </a:ext>
                </a:extLst>
              </p:cNvPr>
              <p:cNvSpPr/>
              <p:nvPr/>
            </p:nvSpPr>
            <p:spPr>
              <a:xfrm>
                <a:off x="1292089" y="3266661"/>
                <a:ext cx="483705" cy="443946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87F322D-5723-9AA0-D4D3-84DA3B5653FA}"/>
                  </a:ext>
                </a:extLst>
              </p:cNvPr>
              <p:cNvSpPr txBox="1"/>
              <p:nvPr/>
            </p:nvSpPr>
            <p:spPr>
              <a:xfrm>
                <a:off x="1233859" y="330396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2EF497-9FE8-94CB-1391-519E27A23D0B}"/>
                  </a:ext>
                </a:extLst>
              </p:cNvPr>
              <p:cNvSpPr txBox="1"/>
              <p:nvPr/>
            </p:nvSpPr>
            <p:spPr>
              <a:xfrm>
                <a:off x="1406342" y="3429864"/>
                <a:ext cx="2551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</a:t>
                </a:r>
              </a:p>
            </p:txBody>
          </p:sp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D98129-77B5-6E18-D27E-B883B48089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02327" y="3488634"/>
              <a:ext cx="908305" cy="3184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4E5DB46-115D-9D4C-9F44-3A31EF806D1F}"/>
                </a:ext>
              </a:extLst>
            </p:cNvPr>
            <p:cNvSpPr/>
            <p:nvPr/>
          </p:nvSpPr>
          <p:spPr>
            <a:xfrm>
              <a:off x="3010632" y="3115500"/>
              <a:ext cx="1017103" cy="726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PID 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B63EDB-3831-1790-5D6E-FE74C0C85AF6}"/>
                </a:ext>
              </a:extLst>
            </p:cNvPr>
            <p:cNvSpPr/>
            <p:nvPr/>
          </p:nvSpPr>
          <p:spPr>
            <a:xfrm>
              <a:off x="4598108" y="3112060"/>
              <a:ext cx="987481" cy="726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/>
                <a:t>Low pass Filter 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0B12334-79C1-1A5E-7A49-8F7B9622C4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7735" y="3488634"/>
              <a:ext cx="556589" cy="0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3DE084B-AE73-2236-663D-E177EDB41E8C}"/>
                </a:ext>
              </a:extLst>
            </p:cNvPr>
            <p:cNvGrpSpPr/>
            <p:nvPr/>
          </p:nvGrpSpPr>
          <p:grpSpPr>
            <a:xfrm>
              <a:off x="6484040" y="3139127"/>
              <a:ext cx="541935" cy="582707"/>
              <a:chOff x="1233859" y="3181525"/>
              <a:chExt cx="541935" cy="582707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6B061A9F-C000-70B2-199E-B1CDBFD34FD9}"/>
                  </a:ext>
                </a:extLst>
              </p:cNvPr>
              <p:cNvSpPr/>
              <p:nvPr/>
            </p:nvSpPr>
            <p:spPr>
              <a:xfrm>
                <a:off x="1292089" y="3320286"/>
                <a:ext cx="483705" cy="443946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4943FC-4439-3921-BAF1-9E4B17D3A7A8}"/>
                  </a:ext>
                </a:extLst>
              </p:cNvPr>
              <p:cNvSpPr txBox="1"/>
              <p:nvPr/>
            </p:nvSpPr>
            <p:spPr>
              <a:xfrm>
                <a:off x="1233859" y="3337483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+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F6B757A-116F-7299-0C2A-1F51F682866A}"/>
                  </a:ext>
                </a:extLst>
              </p:cNvPr>
              <p:cNvSpPr txBox="1"/>
              <p:nvPr/>
            </p:nvSpPr>
            <p:spPr>
              <a:xfrm>
                <a:off x="1403020" y="3181525"/>
                <a:ext cx="2551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-</a:t>
                </a: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84AE9D-7831-EEC3-8D87-515A06089E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70100" y="3482009"/>
              <a:ext cx="961984" cy="6625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B8D4EC-5214-2597-6553-69C946A49B4C}"/>
                </a:ext>
              </a:extLst>
            </p:cNvPr>
            <p:cNvSpPr/>
            <p:nvPr/>
          </p:nvSpPr>
          <p:spPr>
            <a:xfrm>
              <a:off x="7878616" y="3075484"/>
              <a:ext cx="1017103" cy="7266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PID 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7110333-E001-4585-5034-8B1B1F3E35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31175" y="3456034"/>
              <a:ext cx="824393" cy="0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077498-B4D1-4DBA-57E2-6601F1BCF0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86902" y="3447684"/>
              <a:ext cx="1261693" cy="0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313E27D-D56D-B536-F068-3579C5AC3B89}"/>
                </a:ext>
              </a:extLst>
            </p:cNvPr>
            <p:cNvCxnSpPr>
              <a:cxnSpLocks/>
              <a:endCxn id="35" idx="0"/>
            </p:cNvCxnSpPr>
            <p:nvPr/>
          </p:nvCxnSpPr>
          <p:spPr>
            <a:xfrm>
              <a:off x="1860474" y="3710607"/>
              <a:ext cx="0" cy="1035334"/>
            </a:xfrm>
            <a:prstGeom prst="line">
              <a:avLst/>
            </a:prstGeom>
            <a:ln w="19050">
              <a:headEnd type="arrow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4F618E-6ABD-5606-15D5-8082607B306D}"/>
                </a:ext>
              </a:extLst>
            </p:cNvPr>
            <p:cNvSpPr/>
            <p:nvPr/>
          </p:nvSpPr>
          <p:spPr>
            <a:xfrm>
              <a:off x="1860474" y="4612629"/>
              <a:ext cx="9124518" cy="144658"/>
            </a:xfrm>
            <a:custGeom>
              <a:avLst/>
              <a:gdLst>
                <a:gd name="csX0" fmla="*/ 0 w 8693426"/>
                <a:gd name="csY0" fmla="*/ 311427 h 337931"/>
                <a:gd name="csX1" fmla="*/ 8693426 w 8693426"/>
                <a:gd name="csY1" fmla="*/ 337931 h 337931"/>
                <a:gd name="csX2" fmla="*/ 8693426 w 8693426"/>
                <a:gd name="csY2" fmla="*/ 0 h 337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693426" h="337931">
                  <a:moveTo>
                    <a:pt x="0" y="311427"/>
                  </a:moveTo>
                  <a:lnTo>
                    <a:pt x="8693426" y="337931"/>
                  </a:lnTo>
                  <a:lnTo>
                    <a:pt x="8693426" y="0"/>
                  </a:lnTo>
                </a:path>
              </a:pathLst>
            </a:cu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F20F9B4-1404-73CA-B121-E988A040187F}"/>
                </a:ext>
              </a:extLst>
            </p:cNvPr>
            <p:cNvSpPr/>
            <p:nvPr/>
          </p:nvSpPr>
          <p:spPr>
            <a:xfrm>
              <a:off x="6784121" y="2052955"/>
              <a:ext cx="4493479" cy="1224598"/>
            </a:xfrm>
            <a:custGeom>
              <a:avLst/>
              <a:gdLst>
                <a:gd name="csX0" fmla="*/ 4697895 w 4697895"/>
                <a:gd name="csY0" fmla="*/ 927653 h 1643270"/>
                <a:gd name="csX1" fmla="*/ 4697895 w 4697895"/>
                <a:gd name="csY1" fmla="*/ 927653 h 1643270"/>
                <a:gd name="csX2" fmla="*/ 4697895 w 4697895"/>
                <a:gd name="csY2" fmla="*/ 0 h 1643270"/>
                <a:gd name="csX3" fmla="*/ 0 w 4697895"/>
                <a:gd name="csY3" fmla="*/ 19879 h 1643270"/>
                <a:gd name="csX4" fmla="*/ 13252 w 4697895"/>
                <a:gd name="csY4" fmla="*/ 1643270 h 16432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97895" h="1643270">
                  <a:moveTo>
                    <a:pt x="4697895" y="927653"/>
                  </a:moveTo>
                  <a:lnTo>
                    <a:pt x="4697895" y="927653"/>
                  </a:lnTo>
                  <a:lnTo>
                    <a:pt x="4697895" y="0"/>
                  </a:lnTo>
                  <a:lnTo>
                    <a:pt x="0" y="19879"/>
                  </a:lnTo>
                  <a:lnTo>
                    <a:pt x="13252" y="1643270"/>
                  </a:lnTo>
                </a:path>
              </a:pathLst>
            </a:custGeom>
            <a:noFill/>
            <a:ln w="28575"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3161F90-C9F5-EA45-8A64-BF0351EB755A}"/>
                </a:ext>
              </a:extLst>
            </p:cNvPr>
            <p:cNvSpPr txBox="1"/>
            <p:nvPr/>
          </p:nvSpPr>
          <p:spPr>
            <a:xfrm>
              <a:off x="436055" y="3175532"/>
              <a:ext cx="1593780" cy="2279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Desired Velocity</a:t>
              </a:r>
              <a:endParaRPr lang="en-US" sz="9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B9ADB69-122A-E2C1-081B-D8982103F079}"/>
                </a:ext>
              </a:extLst>
            </p:cNvPr>
            <p:cNvSpPr txBox="1"/>
            <p:nvPr/>
          </p:nvSpPr>
          <p:spPr>
            <a:xfrm>
              <a:off x="1925935" y="4508218"/>
              <a:ext cx="3886713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Measurement Velocity from Magnetic encoder</a:t>
              </a:r>
              <a:endParaRPr lang="en-US" sz="9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9632FE-A59B-E659-0A77-4C0BE37F70D7}"/>
                </a:ext>
              </a:extLst>
            </p:cNvPr>
            <p:cNvSpPr txBox="1"/>
            <p:nvPr/>
          </p:nvSpPr>
          <p:spPr>
            <a:xfrm>
              <a:off x="1937954" y="3149121"/>
              <a:ext cx="1393383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Velocity Error</a:t>
              </a:r>
              <a:endParaRPr lang="en-US" sz="9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92CE5D2-44C1-F2F6-BE95-4765BA1965E0}"/>
                </a:ext>
              </a:extLst>
            </p:cNvPr>
            <p:cNvSpPr txBox="1"/>
            <p:nvPr/>
          </p:nvSpPr>
          <p:spPr>
            <a:xfrm>
              <a:off x="5544519" y="3215828"/>
              <a:ext cx="1393384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Desired Roll</a:t>
              </a:r>
              <a:endParaRPr lang="en-US" sz="9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A70A02B-9AA2-1AA8-9D45-0AF9B628D9FE}"/>
                </a:ext>
              </a:extLst>
            </p:cNvPr>
            <p:cNvSpPr txBox="1"/>
            <p:nvPr/>
          </p:nvSpPr>
          <p:spPr>
            <a:xfrm>
              <a:off x="6715340" y="1834607"/>
              <a:ext cx="2967561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Measurement Roll angle from IMU sensor </a:t>
              </a:r>
              <a:endParaRPr lang="en-US" sz="9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E25518-8EBD-103F-C460-C2C53FCBE41D}"/>
                </a:ext>
              </a:extLst>
            </p:cNvPr>
            <p:cNvSpPr txBox="1"/>
            <p:nvPr/>
          </p:nvSpPr>
          <p:spPr>
            <a:xfrm>
              <a:off x="6985880" y="3201009"/>
              <a:ext cx="1393384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Roll Error</a:t>
              </a:r>
              <a:endParaRPr lang="en-US" sz="9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82DFB7E-F49A-07B0-E6CD-CBAB1554EAD6}"/>
                </a:ext>
              </a:extLst>
            </p:cNvPr>
            <p:cNvSpPr txBox="1"/>
            <p:nvPr/>
          </p:nvSpPr>
          <p:spPr>
            <a:xfrm>
              <a:off x="8881104" y="3189005"/>
              <a:ext cx="1393384" cy="235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900" b="1" i="1" dirty="0"/>
                <a:t>Desired Torque</a:t>
              </a:r>
              <a:endParaRPr lang="en-US" sz="900" dirty="0"/>
            </a:p>
          </p:txBody>
        </p: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60A5EAD-B641-D493-F8A2-6A414D6554E0}"/>
              </a:ext>
            </a:extLst>
          </p:cNvPr>
          <p:cNvSpPr/>
          <p:nvPr/>
        </p:nvSpPr>
        <p:spPr>
          <a:xfrm>
            <a:off x="3120732" y="1575050"/>
            <a:ext cx="8698823" cy="344007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A2C204-C97A-4CFC-8A76-4603531640EB}"/>
              </a:ext>
            </a:extLst>
          </p:cNvPr>
          <p:cNvSpPr txBox="1"/>
          <p:nvPr/>
        </p:nvSpPr>
        <p:spPr>
          <a:xfrm>
            <a:off x="3278670" y="1690614"/>
            <a:ext cx="1231851" cy="307777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b="1" i="1" dirty="0"/>
              <a:t>EZSPIN Driver</a:t>
            </a:r>
            <a:endParaRPr lang="en-US" sz="1400" dirty="0"/>
          </a:p>
        </p:txBody>
      </p:sp>
      <p:pic>
        <p:nvPicPr>
          <p:cNvPr id="63" name="Picture 62" descr="Cartoon style Rockchip RK3399 development board">
            <a:extLst>
              <a:ext uri="{FF2B5EF4-FFF2-40B4-BE49-F238E27FC236}">
                <a16:creationId xmlns:a16="http://schemas.microsoft.com/office/drawing/2014/main" id="{8C0DF8D7-C9A6-C3C0-3C1C-95E95B3754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398" b="13212"/>
          <a:stretch>
            <a:fillRect/>
          </a:stretch>
        </p:blipFill>
        <p:spPr>
          <a:xfrm rot="10800000">
            <a:off x="504255" y="1117784"/>
            <a:ext cx="2078180" cy="162908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F7438882-203B-4757-096D-329B554291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98" y="506955"/>
            <a:ext cx="1114559" cy="274925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C1170A57-9D76-232D-2529-3D75A35C81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14" y="2914835"/>
            <a:ext cx="1851040" cy="2655112"/>
          </a:xfrm>
          <a:prstGeom prst="rect">
            <a:avLst/>
          </a:prstGeom>
        </p:spPr>
      </p:pic>
      <p:sp>
        <p:nvSpPr>
          <p:cNvPr id="78" name="Rectangle 77">
            <a:extLst>
              <a:ext uri="{FF2B5EF4-FFF2-40B4-BE49-F238E27FC236}">
                <a16:creationId xmlns:a16="http://schemas.microsoft.com/office/drawing/2014/main" id="{BCAB1CEE-C61D-A6CB-6732-77253E6A67EE}"/>
              </a:ext>
            </a:extLst>
          </p:cNvPr>
          <p:cNvSpPr/>
          <p:nvPr/>
        </p:nvSpPr>
        <p:spPr>
          <a:xfrm>
            <a:off x="127501" y="875347"/>
            <a:ext cx="2767354" cy="504532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017DF3-6F22-71E5-BC63-9F48D752BD3C}"/>
              </a:ext>
            </a:extLst>
          </p:cNvPr>
          <p:cNvSpPr txBox="1"/>
          <p:nvPr/>
        </p:nvSpPr>
        <p:spPr>
          <a:xfrm>
            <a:off x="127502" y="5618352"/>
            <a:ext cx="337253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1" dirty="0"/>
              <a:t>Web UI design for controller a robot movement </a:t>
            </a:r>
            <a:endParaRPr lang="en-US" sz="105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0A188E-C238-DD19-5A03-4F8316E73FD7}"/>
              </a:ext>
            </a:extLst>
          </p:cNvPr>
          <p:cNvSpPr txBox="1"/>
          <p:nvPr/>
        </p:nvSpPr>
        <p:spPr>
          <a:xfrm>
            <a:off x="1209291" y="2325015"/>
            <a:ext cx="98240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i="1" dirty="0"/>
              <a:t>Orange Pi 5B</a:t>
            </a:r>
          </a:p>
        </p:txBody>
      </p:sp>
    </p:spTree>
    <p:extLst>
      <p:ext uri="{BB962C8B-B14F-4D97-AF65-F5344CB8AC3E}">
        <p14:creationId xmlns:p14="http://schemas.microsoft.com/office/powerpoint/2010/main" val="419942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20A66-7DAB-75A8-A955-4E64D73DE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01F6EB-9D53-87DB-9D37-4ABAACA3C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6656" y="346004"/>
            <a:ext cx="4298688" cy="616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4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104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srey sokserey</dc:creator>
  <cp:lastModifiedBy>srey sokserey</cp:lastModifiedBy>
  <cp:revision>5</cp:revision>
  <dcterms:created xsi:type="dcterms:W3CDTF">2026-05-30T03:46:15Z</dcterms:created>
  <dcterms:modified xsi:type="dcterms:W3CDTF">2026-05-31T10:22:02Z</dcterms:modified>
</cp:coreProperties>
</file>